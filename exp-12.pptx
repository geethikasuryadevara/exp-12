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29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184</c:v>
                </c:pt>
                <c:pt idx="1">
                  <c:v>243</c:v>
                </c:pt>
                <c:pt idx="2">
                  <c:v>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8C-4D29-BDD3-D85FA7800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4555753111506223E-2"/>
          <c:y val="4.1560554108139316E-2"/>
          <c:w val="0.9254442468884938"/>
          <c:h val="0.486866750864343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23-4B78-97B4-45407E2C75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23-4B78-97B4-45407E2C75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23-4B78-97B4-45407E2C75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13801568"/>
        <c:axId val="813802400"/>
      </c:barChart>
      <c:catAx>
        <c:axId val="813801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3802400"/>
        <c:crosses val="autoZero"/>
        <c:auto val="1"/>
        <c:lblAlgn val="ctr"/>
        <c:lblOffset val="100"/>
        <c:noMultiLvlLbl val="0"/>
      </c:catAx>
      <c:valAx>
        <c:axId val="813802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3801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7FAFC"/>
                </a:solidFill>
                <a:latin typeface="Trebuchet MS"/>
              </a:defRPr>
            </a:pPr>
            <a:r>
              <a:t>Navigating Digital Transformation: The 2026 Shift</a:t>
            </a:r>
          </a:p>
          <a:p>
            <a:pPr algn="l">
              <a:defRPr sz="2000">
                <a:solidFill>
                  <a:srgbClr val="ED8936"/>
                </a:solidFill>
                <a:latin typeface="Calibri"/>
              </a:defRPr>
            </a:pPr>
            <a:r>
              <a:t>An Analysis of Emerging Technologies, Market Growth, and Workforce Impacts</a:t>
            </a:r>
          </a:p>
          <a:p>
            <a:r>
              <a:t/>
            </a:r>
            <a:br/>
            <a:r>
              <a:t>Prepared by: Student | Course: Advanced Business Strategy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Trebuchet MS"/>
              </a:defRPr>
            </a:pPr>
            <a:r>
              <a:t>The Three Pillars of Modern Disruption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1A365D"/>
                </a:solidFill>
              </a:defRPr>
            </a:pPr>
            <a:r>
              <a:t>Operational Inefficiency</a:t>
            </a:r>
          </a:p>
          <a:p>
            <a:r>
              <a:t/>
            </a:r>
            <a:br/>
            <a:r>
              <a:t>• Legacy systems create highly isolated data silos across departments.</a:t>
            </a:r>
            <a:br/>
            <a:r>
              <a:t/>
            </a:r>
            <a:br/>
            <a:r>
              <a:t>• Lack of automation wastes up to 20% of engineering bandwidth on repetitive tasks.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ED8936"/>
                </a:solidFill>
              </a:defRPr>
            </a:pPr>
            <a:r>
              <a:t>Market Adoption Velocity</a:t>
            </a:r>
          </a:p>
          <a:p>
            <a:r>
              <a:t/>
            </a:r>
            <a:br/>
            <a:r>
              <a:t>• Competitors are aggressively migrating to cloud-native, AI-driven architectures.</a:t>
            </a:r>
            <a:br/>
            <a:r>
              <a:t/>
            </a:r>
            <a:br/>
            <a:r>
              <a:t>• Customer churn risks increase significantly if digital user interfaces lag behind industry standards.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Trebuchet MS"/>
              </a:defRPr>
            </a:pPr>
            <a:r>
              <a:t>Accelerating Global AI Market 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68580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4672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Key Takeaway</a:t>
            </a:r>
          </a:p>
          <a:p>
            <a:r>
              <a:t/>
            </a:r>
            <a:br/>
            <a:r>
              <a:t>The global market is on pace to eclipse $312 Billion by the end of 2026.</a:t>
            </a:r>
            <a:br/>
            <a:r>
              <a:t/>
            </a:r>
            <a:br/>
            <a:r>
              <a:t>This rapid expansion is primarily driven by enterprise-scale generative AI integrations and core infrastructure modernization updates.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365D"/>
                </a:solidFill>
                <a:latin typeface="Trebuchet MS"/>
              </a:defRPr>
            </a:pPr>
            <a:r>
              <a:t>5-Step Strategic Deployment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1920240" cy="38404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0" rIns="137160" rtlCol="0" anchor="ctr"/>
          <a:lstStyle/>
          <a:p>
            <a:pPr algn="ctr">
              <a:defRPr sz="1600" b="1">
                <a:solidFill>
                  <a:srgbClr val="F7FAFC"/>
                </a:solidFill>
              </a:defRPr>
            </a:pPr>
            <a:r>
              <a:t>Phase 1: Discovery</a:t>
            </a:r>
          </a:p>
          <a:p>
            <a:r>
              <a:t/>
            </a:r>
            <a:br/>
            <a:r>
              <a:t>Audit infrastructure and map data 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011680"/>
            <a:ext cx="1920240" cy="384048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0" rIns="137160" rtlCol="0" anchor="ctr"/>
          <a:lstStyle/>
          <a:p>
            <a:pPr algn="ctr">
              <a:defRPr sz="1600" b="1">
                <a:solidFill>
                  <a:srgbClr val="F7FAFC"/>
                </a:solidFill>
              </a:defRPr>
            </a:pPr>
            <a:r>
              <a:t>Phase 2: Pilot Design</a:t>
            </a:r>
          </a:p>
          <a:p>
            <a:r>
              <a:t/>
            </a:r>
            <a:br/>
            <a:r>
              <a:t>Build internal viable products (MVPs).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011680"/>
            <a:ext cx="1920240" cy="38404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0" rIns="137160" rtlCol="0" anchor="ctr"/>
          <a:lstStyle/>
          <a:p>
            <a:pPr algn="ctr">
              <a:defRPr sz="1600" b="1">
                <a:solidFill>
                  <a:srgbClr val="F7FAFC"/>
                </a:solidFill>
              </a:defRPr>
            </a:pPr>
            <a:r>
              <a:t>Phase 3: Upskilling</a:t>
            </a:r>
          </a:p>
          <a:p>
            <a:r>
              <a:t/>
            </a:r>
            <a:br/>
            <a:r>
              <a:t>Train core engineering and product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1920240" cy="384048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0" rIns="137160" rtlCol="0" anchor="ctr"/>
          <a:lstStyle/>
          <a:p>
            <a:pPr algn="ctr">
              <a:defRPr sz="1600" b="1">
                <a:solidFill>
                  <a:srgbClr val="F7FAFC"/>
                </a:solidFill>
              </a:defRPr>
            </a:pPr>
            <a:r>
              <a:t>Phase 4: Scale Launch</a:t>
            </a:r>
          </a:p>
          <a:p>
            <a:r>
              <a:t/>
            </a:r>
            <a:br/>
            <a:r>
              <a:t>Migrate core legacy databases to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011680"/>
            <a:ext cx="1920240" cy="38404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0" rIns="137160" rtlCol="0" anchor="ctr"/>
          <a:lstStyle/>
          <a:p>
            <a:pPr algn="ctr">
              <a:defRPr sz="1600" b="1">
                <a:solidFill>
                  <a:srgbClr val="F7FAFC"/>
                </a:solidFill>
              </a:defRPr>
            </a:pPr>
            <a:r>
              <a:t>Phase 5: Optimize</a:t>
            </a:r>
          </a:p>
          <a:p>
            <a:r>
              <a:t/>
            </a:r>
            <a:br/>
            <a:r>
              <a:t>Run continuous automated monitoring loops.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7FAFC"/>
                </a:solidFill>
                <a:latin typeface="Trebuchet MS"/>
              </a:defRPr>
            </a:pPr>
            <a:r>
              <a:t>Future-Proofing the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7FAFC"/>
                </a:solidFill>
              </a:defRPr>
            </a:pPr>
            <a:r>
              <a:t>• Immediate Action: Allocate 15% of the Q1 budget toward pilot tech exploration initiatives.</a:t>
            </a:r>
          </a:p>
          <a:p>
            <a:pPr>
              <a:defRPr sz="1800">
                <a:solidFill>
                  <a:srgbClr val="F7FAFC"/>
                </a:solidFill>
              </a:defRPr>
            </a:pPr>
            <a:r>
              <a:t>• Structural Change: Shift internal teams toward agile, cross-functional engineering pods.</a:t>
            </a:r>
          </a:p>
          <a:p>
            <a:pPr>
              <a:defRPr sz="1800">
                <a:solidFill>
                  <a:srgbClr val="F7FAFC"/>
                </a:solidFill>
              </a:defRPr>
            </a:pPr>
            <a:r>
              <a:t>• Long-term Goal: Achieve full automated infrastructure production parity by the end of Q4.</a:t>
            </a:r>
          </a:p>
          <a:p>
            <a:r>
              <a:t/>
            </a:r>
            <a:br/>
            <a:r>
              <a:t/>
            </a:r>
            <a:br/>
            <a:r>
              <a:t>"The best way to predict the future is to build it."</a:t>
            </a: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63477768"/>
              </p:ext>
            </p:extLst>
          </p:nvPr>
        </p:nvGraphicFramePr>
        <p:xfrm>
          <a:off x="4254500" y="3683000"/>
          <a:ext cx="5905500" cy="2455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120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2026-10-07T02:48:54Z</dcterms:modified>
  <cp:category/>
</cp:coreProperties>
</file>